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8" r:id="rId4"/>
    <p:sldId id="263" r:id="rId5"/>
    <p:sldId id="262" r:id="rId6"/>
    <p:sldId id="265" r:id="rId7"/>
    <p:sldId id="267" r:id="rId8"/>
    <p:sldId id="266" r:id="rId9"/>
    <p:sldId id="268" r:id="rId10"/>
    <p:sldId id="271" r:id="rId11"/>
    <p:sldId id="269" r:id="rId12"/>
    <p:sldId id="270" r:id="rId13"/>
    <p:sldId id="272" r:id="rId14"/>
    <p:sldId id="273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0"/>
  </p:normalViewPr>
  <p:slideViewPr>
    <p:cSldViewPr snapToGrid="0">
      <p:cViewPr>
        <p:scale>
          <a:sx n="68" d="100"/>
          <a:sy n="68" d="100"/>
        </p:scale>
        <p:origin x="1168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41A71E-6DAA-4801-97F6-5E397C12355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E37835-4D61-4F20-9996-3568AAE597B6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Filtrage sur les données de Paul Brousse</a:t>
          </a:r>
          <a:endParaRPr lang="en-US"/>
        </a:p>
      </dgm:t>
    </dgm:pt>
    <dgm:pt modelId="{774D6075-2784-49C9-87FE-1DB58B6E722E}" type="parTrans" cxnId="{B90075F9-C994-4430-9EDA-79A6BA925407}">
      <dgm:prSet/>
      <dgm:spPr/>
      <dgm:t>
        <a:bodyPr/>
        <a:lstStyle/>
        <a:p>
          <a:endParaRPr lang="en-US"/>
        </a:p>
      </dgm:t>
    </dgm:pt>
    <dgm:pt modelId="{F3A45146-070F-4585-8830-D0897B06A03C}" type="sibTrans" cxnId="{B90075F9-C994-4430-9EDA-79A6BA925407}">
      <dgm:prSet/>
      <dgm:spPr/>
      <dgm:t>
        <a:bodyPr/>
        <a:lstStyle/>
        <a:p>
          <a:endParaRPr lang="en-US"/>
        </a:p>
      </dgm:t>
    </dgm:pt>
    <dgm:pt modelId="{5C80FFA8-DC22-4401-8F50-32547FC68C24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355 interventions chirurgicales sur semestre Hiver 2024 – 2025</a:t>
          </a:r>
          <a:br>
            <a:rPr lang="fr-FR" dirty="0"/>
          </a:br>
          <a:r>
            <a:rPr lang="fr-FR" dirty="0"/>
            <a:t>(coordination Clara </a:t>
          </a:r>
          <a:r>
            <a:rPr lang="fr-FR" dirty="0" err="1"/>
            <a:t>Maurial</a:t>
          </a:r>
          <a:r>
            <a:rPr lang="fr-FR" dirty="0"/>
            <a:t>)</a:t>
          </a:r>
          <a:endParaRPr lang="en-US" dirty="0"/>
        </a:p>
      </dgm:t>
    </dgm:pt>
    <dgm:pt modelId="{104EAD56-7A2D-49AF-B480-03B5FFB29692}" type="parTrans" cxnId="{C93D28A8-9E05-47BB-8F67-522CF8E065B4}">
      <dgm:prSet/>
      <dgm:spPr/>
      <dgm:t>
        <a:bodyPr/>
        <a:lstStyle/>
        <a:p>
          <a:endParaRPr lang="en-US"/>
        </a:p>
      </dgm:t>
    </dgm:pt>
    <dgm:pt modelId="{EC47DD17-5B3E-414D-B610-5E19BDB47729}" type="sibTrans" cxnId="{C93D28A8-9E05-47BB-8F67-522CF8E065B4}">
      <dgm:prSet/>
      <dgm:spPr/>
      <dgm:t>
        <a:bodyPr/>
        <a:lstStyle/>
        <a:p>
          <a:endParaRPr lang="en-US"/>
        </a:p>
      </dgm:t>
    </dgm:pt>
    <dgm:pt modelId="{A38C0BA8-D9BF-4E53-A192-28C31511746F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Analyses spécifiques sur TH / TP et PMO</a:t>
          </a:r>
          <a:endParaRPr lang="en-US"/>
        </a:p>
      </dgm:t>
    </dgm:pt>
    <dgm:pt modelId="{DC65B74D-10E6-493A-86B3-C9F0F570C21D}" type="parTrans" cxnId="{EEF2686A-B53B-4C5A-8195-A4DFA90879F2}">
      <dgm:prSet/>
      <dgm:spPr/>
      <dgm:t>
        <a:bodyPr/>
        <a:lstStyle/>
        <a:p>
          <a:endParaRPr lang="en-US"/>
        </a:p>
      </dgm:t>
    </dgm:pt>
    <dgm:pt modelId="{102CA2CF-FC53-4361-AE7C-8F284D8BF9A5}" type="sibTrans" cxnId="{EEF2686A-B53B-4C5A-8195-A4DFA90879F2}">
      <dgm:prSet/>
      <dgm:spPr/>
      <dgm:t>
        <a:bodyPr/>
        <a:lstStyle/>
        <a:p>
          <a:endParaRPr lang="en-US"/>
        </a:p>
      </dgm:t>
    </dgm:pt>
    <dgm:pt modelId="{D8E90ABE-3024-49C1-B867-A1B1AC90F062}" type="pres">
      <dgm:prSet presAssocID="{BC41A71E-6DAA-4801-97F6-5E397C12355D}" presName="root" presStyleCnt="0">
        <dgm:presLayoutVars>
          <dgm:dir/>
          <dgm:resizeHandles val="exact"/>
        </dgm:presLayoutVars>
      </dgm:prSet>
      <dgm:spPr/>
    </dgm:pt>
    <dgm:pt modelId="{12EA2A0A-5E38-407F-9567-E112234C51F7}" type="pres">
      <dgm:prSet presAssocID="{3DE37835-4D61-4F20-9996-3568AAE597B6}" presName="compNode" presStyleCnt="0"/>
      <dgm:spPr/>
    </dgm:pt>
    <dgm:pt modelId="{1D771369-BD69-49C6-8A49-B3D8BCD450E3}" type="pres">
      <dgm:prSet presAssocID="{3DE37835-4D61-4F20-9996-3568AAE597B6}" presName="bgRect" presStyleLbl="bgShp" presStyleIdx="0" presStyleCnt="3"/>
      <dgm:spPr/>
    </dgm:pt>
    <dgm:pt modelId="{EF694A25-842C-447E-93D7-8C381974F5F4}" type="pres">
      <dgm:prSet presAssocID="{3DE37835-4D61-4F20-9996-3568AAE597B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rer"/>
        </a:ext>
      </dgm:extLst>
    </dgm:pt>
    <dgm:pt modelId="{9113C121-172D-494B-8DA2-410E54A2C026}" type="pres">
      <dgm:prSet presAssocID="{3DE37835-4D61-4F20-9996-3568AAE597B6}" presName="spaceRect" presStyleCnt="0"/>
      <dgm:spPr/>
    </dgm:pt>
    <dgm:pt modelId="{0FA5149E-A236-4CAE-BA9D-A828A4C44141}" type="pres">
      <dgm:prSet presAssocID="{3DE37835-4D61-4F20-9996-3568AAE597B6}" presName="parTx" presStyleLbl="revTx" presStyleIdx="0" presStyleCnt="3">
        <dgm:presLayoutVars>
          <dgm:chMax val="0"/>
          <dgm:chPref val="0"/>
        </dgm:presLayoutVars>
      </dgm:prSet>
      <dgm:spPr/>
    </dgm:pt>
    <dgm:pt modelId="{3DF72AA5-F017-40CA-B930-6C5B620DE9E8}" type="pres">
      <dgm:prSet presAssocID="{F3A45146-070F-4585-8830-D0897B06A03C}" presName="sibTrans" presStyleCnt="0"/>
      <dgm:spPr/>
    </dgm:pt>
    <dgm:pt modelId="{6EF3B9C0-3134-4750-8016-F068FBEFA4DC}" type="pres">
      <dgm:prSet presAssocID="{5C80FFA8-DC22-4401-8F50-32547FC68C24}" presName="compNode" presStyleCnt="0"/>
      <dgm:spPr/>
    </dgm:pt>
    <dgm:pt modelId="{7366E09C-E5A1-4A15-BD0C-C7619E52CD5C}" type="pres">
      <dgm:prSet presAssocID="{5C80FFA8-DC22-4401-8F50-32547FC68C24}" presName="bgRect" presStyleLbl="bgShp" presStyleIdx="1" presStyleCnt="3"/>
      <dgm:spPr/>
    </dgm:pt>
    <dgm:pt modelId="{A7539027-01A1-4A8A-A46C-C323307B14C2}" type="pres">
      <dgm:prSet presAssocID="{5C80FFA8-DC22-4401-8F50-32547FC68C2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égaphone"/>
        </a:ext>
      </dgm:extLst>
    </dgm:pt>
    <dgm:pt modelId="{8981EF2E-6F9C-48D6-AC97-5BB94E127E45}" type="pres">
      <dgm:prSet presAssocID="{5C80FFA8-DC22-4401-8F50-32547FC68C24}" presName="spaceRect" presStyleCnt="0"/>
      <dgm:spPr/>
    </dgm:pt>
    <dgm:pt modelId="{9F27C977-7843-44F8-9AA8-294270292EB5}" type="pres">
      <dgm:prSet presAssocID="{5C80FFA8-DC22-4401-8F50-32547FC68C24}" presName="parTx" presStyleLbl="revTx" presStyleIdx="1" presStyleCnt="3">
        <dgm:presLayoutVars>
          <dgm:chMax val="0"/>
          <dgm:chPref val="0"/>
        </dgm:presLayoutVars>
      </dgm:prSet>
      <dgm:spPr/>
    </dgm:pt>
    <dgm:pt modelId="{C30FE56E-F796-460A-8770-5E8F43A14CC3}" type="pres">
      <dgm:prSet presAssocID="{EC47DD17-5B3E-414D-B610-5E19BDB47729}" presName="sibTrans" presStyleCnt="0"/>
      <dgm:spPr/>
    </dgm:pt>
    <dgm:pt modelId="{A194F96C-BA3D-4CEC-BA97-EBC6B6A5FC91}" type="pres">
      <dgm:prSet presAssocID="{A38C0BA8-D9BF-4E53-A192-28C31511746F}" presName="compNode" presStyleCnt="0"/>
      <dgm:spPr/>
    </dgm:pt>
    <dgm:pt modelId="{FA0D390D-747A-42CC-8262-6E365E06A3A4}" type="pres">
      <dgm:prSet presAssocID="{A38C0BA8-D9BF-4E53-A192-28C31511746F}" presName="bgRect" presStyleLbl="bgShp" presStyleIdx="2" presStyleCnt="3"/>
      <dgm:spPr/>
    </dgm:pt>
    <dgm:pt modelId="{B31D271F-96C3-4E4D-9F01-297412579A63}" type="pres">
      <dgm:prSet presAssocID="{A38C0BA8-D9BF-4E53-A192-28C31511746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532220D-1492-4541-8EEF-DDBEC29C3C5A}" type="pres">
      <dgm:prSet presAssocID="{A38C0BA8-D9BF-4E53-A192-28C31511746F}" presName="spaceRect" presStyleCnt="0"/>
      <dgm:spPr/>
    </dgm:pt>
    <dgm:pt modelId="{CE99EEA0-6CBC-4593-B0EE-4E756ED91C50}" type="pres">
      <dgm:prSet presAssocID="{A38C0BA8-D9BF-4E53-A192-28C31511746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1B89703-8AC2-4A9D-8496-064B9067D630}" type="presOf" srcId="{BC41A71E-6DAA-4801-97F6-5E397C12355D}" destId="{D8E90ABE-3024-49C1-B867-A1B1AC90F062}" srcOrd="0" destOrd="0" presId="urn:microsoft.com/office/officeart/2018/2/layout/IconVerticalSolidList"/>
    <dgm:cxn modelId="{DB7D690B-25BE-4467-A5DD-CE8A05043A20}" type="presOf" srcId="{3DE37835-4D61-4F20-9996-3568AAE597B6}" destId="{0FA5149E-A236-4CAE-BA9D-A828A4C44141}" srcOrd="0" destOrd="0" presId="urn:microsoft.com/office/officeart/2018/2/layout/IconVerticalSolidList"/>
    <dgm:cxn modelId="{E0F6ED45-7004-4466-8024-26BAC7F6111E}" type="presOf" srcId="{A38C0BA8-D9BF-4E53-A192-28C31511746F}" destId="{CE99EEA0-6CBC-4593-B0EE-4E756ED91C50}" srcOrd="0" destOrd="0" presId="urn:microsoft.com/office/officeart/2018/2/layout/IconVerticalSolidList"/>
    <dgm:cxn modelId="{8B269353-5C04-4CEE-8BB9-A115CC7F813F}" type="presOf" srcId="{5C80FFA8-DC22-4401-8F50-32547FC68C24}" destId="{9F27C977-7843-44F8-9AA8-294270292EB5}" srcOrd="0" destOrd="0" presId="urn:microsoft.com/office/officeart/2018/2/layout/IconVerticalSolidList"/>
    <dgm:cxn modelId="{EEF2686A-B53B-4C5A-8195-A4DFA90879F2}" srcId="{BC41A71E-6DAA-4801-97F6-5E397C12355D}" destId="{A38C0BA8-D9BF-4E53-A192-28C31511746F}" srcOrd="2" destOrd="0" parTransId="{DC65B74D-10E6-493A-86B3-C9F0F570C21D}" sibTransId="{102CA2CF-FC53-4361-AE7C-8F284D8BF9A5}"/>
    <dgm:cxn modelId="{C93D28A8-9E05-47BB-8F67-522CF8E065B4}" srcId="{BC41A71E-6DAA-4801-97F6-5E397C12355D}" destId="{5C80FFA8-DC22-4401-8F50-32547FC68C24}" srcOrd="1" destOrd="0" parTransId="{104EAD56-7A2D-49AF-B480-03B5FFB29692}" sibTransId="{EC47DD17-5B3E-414D-B610-5E19BDB47729}"/>
    <dgm:cxn modelId="{B90075F9-C994-4430-9EDA-79A6BA925407}" srcId="{BC41A71E-6DAA-4801-97F6-5E397C12355D}" destId="{3DE37835-4D61-4F20-9996-3568AAE597B6}" srcOrd="0" destOrd="0" parTransId="{774D6075-2784-49C9-87FE-1DB58B6E722E}" sibTransId="{F3A45146-070F-4585-8830-D0897B06A03C}"/>
    <dgm:cxn modelId="{28BDFFB0-085C-4A0E-92C5-E803856123E4}" type="presParOf" srcId="{D8E90ABE-3024-49C1-B867-A1B1AC90F062}" destId="{12EA2A0A-5E38-407F-9567-E112234C51F7}" srcOrd="0" destOrd="0" presId="urn:microsoft.com/office/officeart/2018/2/layout/IconVerticalSolidList"/>
    <dgm:cxn modelId="{A15922DB-032E-4B89-985D-96687594D826}" type="presParOf" srcId="{12EA2A0A-5E38-407F-9567-E112234C51F7}" destId="{1D771369-BD69-49C6-8A49-B3D8BCD450E3}" srcOrd="0" destOrd="0" presId="urn:microsoft.com/office/officeart/2018/2/layout/IconVerticalSolidList"/>
    <dgm:cxn modelId="{344B6EE3-D292-4C96-B3AB-DD497E9DBEA0}" type="presParOf" srcId="{12EA2A0A-5E38-407F-9567-E112234C51F7}" destId="{EF694A25-842C-447E-93D7-8C381974F5F4}" srcOrd="1" destOrd="0" presId="urn:microsoft.com/office/officeart/2018/2/layout/IconVerticalSolidList"/>
    <dgm:cxn modelId="{87CC2AC3-673D-4E3E-9385-42CFC309D907}" type="presParOf" srcId="{12EA2A0A-5E38-407F-9567-E112234C51F7}" destId="{9113C121-172D-494B-8DA2-410E54A2C026}" srcOrd="2" destOrd="0" presId="urn:microsoft.com/office/officeart/2018/2/layout/IconVerticalSolidList"/>
    <dgm:cxn modelId="{431498F4-F2B1-4728-84F8-02BE041C9DE7}" type="presParOf" srcId="{12EA2A0A-5E38-407F-9567-E112234C51F7}" destId="{0FA5149E-A236-4CAE-BA9D-A828A4C44141}" srcOrd="3" destOrd="0" presId="urn:microsoft.com/office/officeart/2018/2/layout/IconVerticalSolidList"/>
    <dgm:cxn modelId="{D359D940-E8E0-4414-9A29-982C4022FB70}" type="presParOf" srcId="{D8E90ABE-3024-49C1-B867-A1B1AC90F062}" destId="{3DF72AA5-F017-40CA-B930-6C5B620DE9E8}" srcOrd="1" destOrd="0" presId="urn:microsoft.com/office/officeart/2018/2/layout/IconVerticalSolidList"/>
    <dgm:cxn modelId="{0ED8C688-A606-45E1-B4AF-DF264C344E34}" type="presParOf" srcId="{D8E90ABE-3024-49C1-B867-A1B1AC90F062}" destId="{6EF3B9C0-3134-4750-8016-F068FBEFA4DC}" srcOrd="2" destOrd="0" presId="urn:microsoft.com/office/officeart/2018/2/layout/IconVerticalSolidList"/>
    <dgm:cxn modelId="{C4B928CA-6ECA-4C5B-BF56-8A905367D161}" type="presParOf" srcId="{6EF3B9C0-3134-4750-8016-F068FBEFA4DC}" destId="{7366E09C-E5A1-4A15-BD0C-C7619E52CD5C}" srcOrd="0" destOrd="0" presId="urn:microsoft.com/office/officeart/2018/2/layout/IconVerticalSolidList"/>
    <dgm:cxn modelId="{B48632A3-9D7E-4CFB-AA99-31C7417E81FF}" type="presParOf" srcId="{6EF3B9C0-3134-4750-8016-F068FBEFA4DC}" destId="{A7539027-01A1-4A8A-A46C-C323307B14C2}" srcOrd="1" destOrd="0" presId="urn:microsoft.com/office/officeart/2018/2/layout/IconVerticalSolidList"/>
    <dgm:cxn modelId="{442C5E41-17C1-4190-9C8E-08192DFF58DF}" type="presParOf" srcId="{6EF3B9C0-3134-4750-8016-F068FBEFA4DC}" destId="{8981EF2E-6F9C-48D6-AC97-5BB94E127E45}" srcOrd="2" destOrd="0" presId="urn:microsoft.com/office/officeart/2018/2/layout/IconVerticalSolidList"/>
    <dgm:cxn modelId="{A4A071D0-4106-4A5E-A2C7-951C3F981217}" type="presParOf" srcId="{6EF3B9C0-3134-4750-8016-F068FBEFA4DC}" destId="{9F27C977-7843-44F8-9AA8-294270292EB5}" srcOrd="3" destOrd="0" presId="urn:microsoft.com/office/officeart/2018/2/layout/IconVerticalSolidList"/>
    <dgm:cxn modelId="{7BCE9E93-B7D8-4A1F-92F1-DA1DD57B0848}" type="presParOf" srcId="{D8E90ABE-3024-49C1-B867-A1B1AC90F062}" destId="{C30FE56E-F796-460A-8770-5E8F43A14CC3}" srcOrd="3" destOrd="0" presId="urn:microsoft.com/office/officeart/2018/2/layout/IconVerticalSolidList"/>
    <dgm:cxn modelId="{A093D40D-8726-49AA-A4BD-0E0CD4CC0838}" type="presParOf" srcId="{D8E90ABE-3024-49C1-B867-A1B1AC90F062}" destId="{A194F96C-BA3D-4CEC-BA97-EBC6B6A5FC91}" srcOrd="4" destOrd="0" presId="urn:microsoft.com/office/officeart/2018/2/layout/IconVerticalSolidList"/>
    <dgm:cxn modelId="{9B98B9BE-9945-4205-931D-BDA3E6CFED5F}" type="presParOf" srcId="{A194F96C-BA3D-4CEC-BA97-EBC6B6A5FC91}" destId="{FA0D390D-747A-42CC-8262-6E365E06A3A4}" srcOrd="0" destOrd="0" presId="urn:microsoft.com/office/officeart/2018/2/layout/IconVerticalSolidList"/>
    <dgm:cxn modelId="{B286562F-C927-44DA-B14F-42112D5A7C31}" type="presParOf" srcId="{A194F96C-BA3D-4CEC-BA97-EBC6B6A5FC91}" destId="{B31D271F-96C3-4E4D-9F01-297412579A63}" srcOrd="1" destOrd="0" presId="urn:microsoft.com/office/officeart/2018/2/layout/IconVerticalSolidList"/>
    <dgm:cxn modelId="{F902D924-8954-4DCA-A86F-9107C95A88D3}" type="presParOf" srcId="{A194F96C-BA3D-4CEC-BA97-EBC6B6A5FC91}" destId="{2532220D-1492-4541-8EEF-DDBEC29C3C5A}" srcOrd="2" destOrd="0" presId="urn:microsoft.com/office/officeart/2018/2/layout/IconVerticalSolidList"/>
    <dgm:cxn modelId="{B371127F-B402-4180-9E79-9E10172A4284}" type="presParOf" srcId="{A194F96C-BA3D-4CEC-BA97-EBC6B6A5FC91}" destId="{CE99EEA0-6CBC-4593-B0EE-4E756ED91C5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771369-BD69-49C6-8A49-B3D8BCD450E3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694A25-842C-447E-93D7-8C381974F5F4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5149E-A236-4CAE-BA9D-A828A4C44141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Filtrage sur les données de Paul Brousse</a:t>
          </a:r>
          <a:endParaRPr lang="en-US" sz="2500" kern="1200"/>
        </a:p>
      </dsp:txBody>
      <dsp:txXfrm>
        <a:off x="1435590" y="531"/>
        <a:ext cx="9080009" cy="1242935"/>
      </dsp:txXfrm>
    </dsp:sp>
    <dsp:sp modelId="{7366E09C-E5A1-4A15-BD0C-C7619E52CD5C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539027-01A1-4A8A-A46C-C323307B14C2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27C977-7843-44F8-9AA8-294270292EB5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355 interventions chirurgicales sur semestre Hiver 2024 – 2025</a:t>
          </a:r>
          <a:br>
            <a:rPr lang="fr-FR" sz="2500" kern="1200" dirty="0"/>
          </a:br>
          <a:r>
            <a:rPr lang="fr-FR" sz="2500" kern="1200" dirty="0"/>
            <a:t>(coordination Clara </a:t>
          </a:r>
          <a:r>
            <a:rPr lang="fr-FR" sz="2500" kern="1200" dirty="0" err="1"/>
            <a:t>Maurial</a:t>
          </a:r>
          <a:r>
            <a:rPr lang="fr-FR" sz="2500" kern="1200" dirty="0"/>
            <a:t>)</a:t>
          </a:r>
          <a:endParaRPr lang="en-US" sz="2500" kern="1200" dirty="0"/>
        </a:p>
      </dsp:txBody>
      <dsp:txXfrm>
        <a:off x="1435590" y="1554201"/>
        <a:ext cx="9080009" cy="1242935"/>
      </dsp:txXfrm>
    </dsp:sp>
    <dsp:sp modelId="{FA0D390D-747A-42CC-8262-6E365E06A3A4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1D271F-96C3-4E4D-9F01-297412579A63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99EEA0-6CBC-4593-B0EE-4E756ED91C50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Analyses spécifiques sur TH / TP et PMO</a:t>
          </a:r>
          <a:endParaRPr lang="en-US" sz="2500" kern="1200"/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F59034-9FB3-C535-AE09-46EEA39D8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BA35BB4-28B0-76EB-A0F6-E154CBF63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FBC6AB-A1D0-2462-92D4-766B8070E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38A9-F635-0B4B-9A37-0F5896645180}" type="datetimeFigureOut">
              <a:rPr lang="fr-FR" smtClean="0"/>
              <a:t>07/09/2025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7C7542-43C4-218D-79EB-F600973D9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F69836-5E59-55E2-9929-29AF3BDFA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17F93-FEF2-7349-B676-8221B87E52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8218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D2B2C1-65B4-86A5-7834-BD7DE0BAA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9AA58C-0DE1-E494-86FB-8DFB0BBC9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1E6C64-ADC6-4637-CF82-C058C445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38A9-F635-0B4B-9A37-0F5896645180}" type="datetimeFigureOut">
              <a:rPr lang="fr-FR" smtClean="0"/>
              <a:t>07/09/2025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9881DF-8BC0-149B-1004-F6E0BE63B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89DC98-80F3-D940-F102-D3D18C6E7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17F93-FEF2-7349-B676-8221B87E52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7926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36936C-E089-093A-8FFE-3A58B20FC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AC898D8-78E7-2BD1-FC56-FB6BC7D72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EAC7D6-9A52-E615-7E03-1B1AE44EC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38A9-F635-0B4B-9A37-0F5896645180}" type="datetimeFigureOut">
              <a:rPr lang="fr-FR" smtClean="0"/>
              <a:t>07/09/2025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5BC8EA-02C7-98B6-57D5-7C12D87AF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6CD123-F29B-3FE4-0BA1-573642EB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17F93-FEF2-7349-B676-8221B87E52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8735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9711EA-58ED-2C66-4C3C-82061BB5B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3AC472-25C3-EFE8-63CE-B8561CF222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2C549B0-864E-730D-4B38-8FDC893B7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9D1E853-3DB1-5CDD-59C1-7D3C5C28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38A9-F635-0B4B-9A37-0F5896645180}" type="datetimeFigureOut">
              <a:rPr lang="fr-FR" smtClean="0"/>
              <a:t>07/09/2025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DD27F80-A76F-F28C-9CA8-1CAAF6504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8F5F233-6803-CC2B-E22B-EBF544BF5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17F93-FEF2-7349-B676-8221B87E52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4193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1AD4BD-AD2A-E485-9FE8-EAAE6429D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508AEF6-611C-D748-5329-36FFCDC43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4499399-28CB-7529-7AE5-1B40DE9592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B641B7A-E081-28FB-DED0-80D71B52D0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3F07EEC-C6D4-6225-FA66-95276884B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F6641A8-3CE2-CC90-04D9-A859F5C5F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38A9-F635-0B4B-9A37-0F5896645180}" type="datetimeFigureOut">
              <a:rPr lang="fr-FR" smtClean="0"/>
              <a:t>07/09/2025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AFD63F6-9080-64D3-5FA0-1C7599E74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99416A1-53AD-E812-E324-B07F54DA0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17F93-FEF2-7349-B676-8221B87E52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6310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7E3DC8-1F82-8BD5-EC62-CC511562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07CF5A7-F59A-CCCF-F5D2-10196E2EF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38A9-F635-0B4B-9A37-0F5896645180}" type="datetimeFigureOut">
              <a:rPr lang="fr-FR" smtClean="0"/>
              <a:t>07/09/2025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53F5467-4BED-F709-F463-5CB7B340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BE88E7-6FDF-DF19-FD35-52BAFB15C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17F93-FEF2-7349-B676-8221B87E52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4403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E4AAA4E-4E79-22E2-1D90-B04AD339A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38A9-F635-0B4B-9A37-0F5896645180}" type="datetimeFigureOut">
              <a:rPr lang="fr-FR" smtClean="0"/>
              <a:t>07/09/2025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E4EFFDB-A915-4C6E-FC81-4F80BCF5C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857532-D4A9-0225-7606-0174E8EDE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17F93-FEF2-7349-B676-8221B87E52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3328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063AAA-2102-D758-5856-FC21F2EC4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A3887-B853-9B9D-3172-BF5FA1423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F4E5EE-39CE-D65E-0835-944785B18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DED3B7B-999A-E45C-E21E-FCF6F0323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38A9-F635-0B4B-9A37-0F5896645180}" type="datetimeFigureOut">
              <a:rPr lang="fr-FR" smtClean="0"/>
              <a:t>07/09/2025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AB848D8-F720-2109-720E-B736F9A07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B5D71-8918-00C2-72EA-20F65383B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17F93-FEF2-7349-B676-8221B87E52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9731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705BAD-58E5-497A-3F4B-87292DF3A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110962F-4758-646A-14C0-814CD0ED8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4C7DA90-09E6-BF2C-82EB-CFB2E255E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EF2200-4A5C-344F-6B23-E7CE65863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38A9-F635-0B4B-9A37-0F5896645180}" type="datetimeFigureOut">
              <a:rPr lang="fr-FR" smtClean="0"/>
              <a:t>07/09/2025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CCF8A9-B198-D3C6-C0D5-41CE8FD6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BA3AEAD-E888-5F2D-22DD-C4C8B2FDA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17F93-FEF2-7349-B676-8221B87E52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9073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333B3-4594-7AF1-1120-C8B41B1FF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6714B7E-8322-0729-D086-4283538DA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37B24C-C381-8ED1-D6AC-F52E622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38A9-F635-0B4B-9A37-0F5896645180}" type="datetimeFigureOut">
              <a:rPr lang="fr-FR" smtClean="0"/>
              <a:t>07/09/2025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5A118A-C581-0AD9-F7D0-B5B734979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1178F0-26B2-3AAB-43EB-769C07D6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17F93-FEF2-7349-B676-8221B87E52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238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30B9D0B-DAD8-05FE-3B6D-0A9D5A3A48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B49FFBC-E5EC-6C53-2A1E-0D54B105E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003046-6122-D323-8066-D88B5CE91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38A9-F635-0B4B-9A37-0F5896645180}" type="datetimeFigureOut">
              <a:rPr lang="fr-FR" smtClean="0"/>
              <a:t>07/09/2025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EEC987-9D68-1852-B94D-8F94D963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E46ED0-0B4F-2D90-3432-48195742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17F93-FEF2-7349-B676-8221B87E52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4074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A6A0E4E-F632-C2E1-2273-4BED3A7FF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A8638F-5F16-396C-4673-D95E29C04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D5E0C1-60A0-DF32-29AB-849DC4AC4D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538A9-F635-0B4B-9A37-0F5896645180}" type="datetimeFigureOut">
              <a:rPr lang="fr-FR" smtClean="0"/>
              <a:t>07/09/2025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F2AAC2-832D-8082-4A3E-3098BA28CD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CCD548-7BBB-D3DE-B9AE-ADD686B0B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E17F93-FEF2-7349-B676-8221B87E52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5996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7F21A1-F810-2C35-A588-449580E589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RÉSULTATS PBR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8872227-09E1-6ECF-AECA-9DC76FDECF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Sous groupe</a:t>
            </a:r>
          </a:p>
        </p:txBody>
      </p:sp>
    </p:spTree>
    <p:extLst>
      <p:ext uri="{BB962C8B-B14F-4D97-AF65-F5344CB8AC3E}">
        <p14:creationId xmlns:p14="http://schemas.microsoft.com/office/powerpoint/2010/main" val="2282258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7B9B9-594E-0CCB-9D83-17BA0361C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014AEB-0231-FEDA-FD19-6410A17A7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/>
          </a:bodyPr>
          <a:lstStyle/>
          <a:p>
            <a:r>
              <a:rPr lang="fr-FR" sz="3200" dirty="0"/>
              <a:t>Méthodes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338A83BA-CFFF-08BF-E24E-5769E782FA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6334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DF715-0330-0575-4F09-424AC4ADB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3C2DE6-5595-91AC-9EB5-335999559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1353800" cy="748145"/>
          </a:xfrm>
        </p:spPr>
        <p:txBody>
          <a:bodyPr>
            <a:normAutofit/>
          </a:bodyPr>
          <a:lstStyle/>
          <a:p>
            <a:r>
              <a:rPr lang="fr-FR" sz="3200" dirty="0"/>
              <a:t>Répartition des interventions (Semestre Hiver 24 – 25) (n = 355)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39F286E-DF6D-A29F-D8D1-FCC646FAC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28" y="905768"/>
            <a:ext cx="9815945" cy="573436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4B0E084-9BFD-A6F7-95D4-86F56A08D77F}"/>
              </a:ext>
            </a:extLst>
          </p:cNvPr>
          <p:cNvSpPr txBox="1"/>
          <p:nvPr/>
        </p:nvSpPr>
        <p:spPr>
          <a:xfrm>
            <a:off x="7923148" y="3429000"/>
            <a:ext cx="4150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dirty="0"/>
              <a:t>TH : incluent reprises et explantations</a:t>
            </a:r>
          </a:p>
        </p:txBody>
      </p:sp>
    </p:spTree>
    <p:extLst>
      <p:ext uri="{BB962C8B-B14F-4D97-AF65-F5344CB8AC3E}">
        <p14:creationId xmlns:p14="http://schemas.microsoft.com/office/powerpoint/2010/main" val="2222223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35D48-4067-C462-35D5-91318E674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40FA69-31D0-B8F2-53FF-B7D292C64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48145"/>
          </a:xfrm>
        </p:spPr>
        <p:txBody>
          <a:bodyPr>
            <a:normAutofit/>
          </a:bodyPr>
          <a:lstStyle/>
          <a:p>
            <a:r>
              <a:rPr lang="fr-FR" sz="3200" dirty="0"/>
              <a:t>Place de l’interne à Paul Brousse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DD92457-483B-F3A6-821E-4C9ACC51B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91" y="955963"/>
            <a:ext cx="7772400" cy="560828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2EB5F59-6B83-9C81-37A1-E65892E9CD90}"/>
              </a:ext>
            </a:extLst>
          </p:cNvPr>
          <p:cNvSpPr txBox="1"/>
          <p:nvPr/>
        </p:nvSpPr>
        <p:spPr>
          <a:xfrm>
            <a:off x="8523520" y="3059668"/>
            <a:ext cx="3162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OPÉRATEUR / 1</a:t>
            </a:r>
            <a:r>
              <a:rPr lang="fr-FR" b="1" baseline="30000" dirty="0"/>
              <a:t>ER</a:t>
            </a:r>
            <a:r>
              <a:rPr lang="fr-FR" b="1" dirty="0"/>
              <a:t> AIDE = 55%</a:t>
            </a:r>
          </a:p>
        </p:txBody>
      </p:sp>
    </p:spTree>
    <p:extLst>
      <p:ext uri="{BB962C8B-B14F-4D97-AF65-F5344CB8AC3E}">
        <p14:creationId xmlns:p14="http://schemas.microsoft.com/office/powerpoint/2010/main" val="819902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244C1-DBE0-956B-007B-12C0ED308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6297AA-72EF-4DD8-7D09-EC52CDA64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48145"/>
          </a:xfrm>
        </p:spPr>
        <p:txBody>
          <a:bodyPr>
            <a:normAutofit/>
          </a:bodyPr>
          <a:lstStyle/>
          <a:p>
            <a:r>
              <a:rPr lang="fr-FR" sz="3200" dirty="0"/>
              <a:t>Taux de geste à Paul Brousse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AE415AC-8B52-9B0D-93F3-F7775B7E8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727" y="955481"/>
            <a:ext cx="2957945" cy="269758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5365261-C13B-0CA8-2942-5D2E1F8864DC}"/>
              </a:ext>
            </a:extLst>
          </p:cNvPr>
          <p:cNvSpPr txBox="1"/>
          <p:nvPr/>
        </p:nvSpPr>
        <p:spPr>
          <a:xfrm>
            <a:off x="5737654" y="1730980"/>
            <a:ext cx="5828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TOUTES INTERVENTIONS CONFONDUES : Geste = 38%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28FC5D4-9BFD-7B8D-D0C6-CC4EC4DF3387}"/>
              </a:ext>
            </a:extLst>
          </p:cNvPr>
          <p:cNvSpPr txBox="1"/>
          <p:nvPr/>
        </p:nvSpPr>
        <p:spPr>
          <a:xfrm>
            <a:off x="1060220" y="1915646"/>
            <a:ext cx="1430905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Geste = 38%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ADE3E48-70FA-7CBB-B65D-DB77457463AC}"/>
              </a:ext>
            </a:extLst>
          </p:cNvPr>
          <p:cNvSpPr txBox="1"/>
          <p:nvPr/>
        </p:nvSpPr>
        <p:spPr>
          <a:xfrm>
            <a:off x="2600767" y="2478663"/>
            <a:ext cx="2083519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Pas de geste = 62%</a:t>
            </a:r>
          </a:p>
        </p:txBody>
      </p:sp>
    </p:spTree>
    <p:extLst>
      <p:ext uri="{BB962C8B-B14F-4D97-AF65-F5344CB8AC3E}">
        <p14:creationId xmlns:p14="http://schemas.microsoft.com/office/powerpoint/2010/main" val="2635901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9098C-1C98-E04F-05C9-8BB52DE1B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49E3F0-0B62-E8B3-619F-786AE85D5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48145"/>
          </a:xfrm>
        </p:spPr>
        <p:txBody>
          <a:bodyPr>
            <a:normAutofit/>
          </a:bodyPr>
          <a:lstStyle/>
          <a:p>
            <a:r>
              <a:rPr lang="fr-FR" sz="3200" dirty="0"/>
              <a:t>Taux de geste à Paul Brousse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85F68EE-086D-BE12-2B5E-9DBF02CF9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727" y="955481"/>
            <a:ext cx="2957945" cy="269758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03A5F0E-7936-3748-535E-D6E861AD1E23}"/>
              </a:ext>
            </a:extLst>
          </p:cNvPr>
          <p:cNvSpPr txBox="1"/>
          <p:nvPr/>
        </p:nvSpPr>
        <p:spPr>
          <a:xfrm>
            <a:off x="5737654" y="1730980"/>
            <a:ext cx="5828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TOUTES INTERVENTIONS CONFONDUES : Geste = 38%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2FF6A94-3BBE-A413-5777-CFB5DE238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36" y="4171841"/>
            <a:ext cx="4717473" cy="259120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B8C407B-7B7C-B429-A9EC-44B2FB00297C}"/>
              </a:ext>
            </a:extLst>
          </p:cNvPr>
          <p:cNvSpPr txBox="1"/>
          <p:nvPr/>
        </p:nvSpPr>
        <p:spPr>
          <a:xfrm>
            <a:off x="1060220" y="1915646"/>
            <a:ext cx="1430905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Geste = 38%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33F9683-485A-5894-2CA0-16243821091C}"/>
              </a:ext>
            </a:extLst>
          </p:cNvPr>
          <p:cNvSpPr txBox="1"/>
          <p:nvPr/>
        </p:nvSpPr>
        <p:spPr>
          <a:xfrm>
            <a:off x="2600767" y="2478663"/>
            <a:ext cx="2083519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Pas de geste = 62%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0A59821-7E6E-38CE-A617-6D7834194E80}"/>
              </a:ext>
            </a:extLst>
          </p:cNvPr>
          <p:cNvSpPr txBox="1"/>
          <p:nvPr/>
        </p:nvSpPr>
        <p:spPr>
          <a:xfrm>
            <a:off x="5737654" y="5098113"/>
            <a:ext cx="5066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Pas de différence significative garde / astreinte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5D307E2-318E-6690-5B77-098ECF8637DA}"/>
              </a:ext>
            </a:extLst>
          </p:cNvPr>
          <p:cNvSpPr txBox="1"/>
          <p:nvPr/>
        </p:nvSpPr>
        <p:spPr>
          <a:xfrm>
            <a:off x="5737654" y="5467445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p = 0.09</a:t>
            </a:r>
          </a:p>
        </p:txBody>
      </p:sp>
    </p:spTree>
    <p:extLst>
      <p:ext uri="{BB962C8B-B14F-4D97-AF65-F5344CB8AC3E}">
        <p14:creationId xmlns:p14="http://schemas.microsoft.com/office/powerpoint/2010/main" val="1780530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008E-B1D5-1B33-DB1D-A7A40A22A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27B6EB-EED2-E03F-F886-7EE01E4E4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48145"/>
          </a:xfrm>
        </p:spPr>
        <p:txBody>
          <a:bodyPr>
            <a:normAutofit/>
          </a:bodyPr>
          <a:lstStyle/>
          <a:p>
            <a:r>
              <a:rPr lang="fr-FR" sz="3200" dirty="0"/>
              <a:t>Taux de geste à Paul Brousse selon les groupes d’interventions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5B064671-B444-AB76-6AF8-16544E08D621}"/>
              </a:ext>
            </a:extLst>
          </p:cNvPr>
          <p:cNvSpPr txBox="1">
            <a:spLocks/>
          </p:cNvSpPr>
          <p:nvPr/>
        </p:nvSpPr>
        <p:spPr>
          <a:xfrm>
            <a:off x="990600" y="152400"/>
            <a:ext cx="10515600" cy="748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3600" dirty="0"/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E26CEB9A-AE5A-90C1-9568-910C0FCA3E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128"/>
          <a:stretch>
            <a:fillRect/>
          </a:stretch>
        </p:blipFill>
        <p:spPr>
          <a:xfrm>
            <a:off x="199434" y="747584"/>
            <a:ext cx="11639270" cy="611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878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623A2-670C-29EA-2564-1F16747F1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e 28">
            <a:extLst>
              <a:ext uri="{FF2B5EF4-FFF2-40B4-BE49-F238E27FC236}">
                <a16:creationId xmlns:a16="http://schemas.microsoft.com/office/drawing/2014/main" id="{F566F326-D820-AE0A-DD2E-AF90DDCE734D}"/>
              </a:ext>
            </a:extLst>
          </p:cNvPr>
          <p:cNvGrpSpPr/>
          <p:nvPr/>
        </p:nvGrpSpPr>
        <p:grpSpPr>
          <a:xfrm>
            <a:off x="199434" y="747584"/>
            <a:ext cx="11724560" cy="6110416"/>
            <a:chOff x="199434" y="747584"/>
            <a:chExt cx="10894713" cy="5677930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8AF9DE3F-E63E-87F0-7FBA-0B20E6AA8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8128"/>
            <a:stretch>
              <a:fillRect/>
            </a:stretch>
          </p:blipFill>
          <p:spPr>
            <a:xfrm>
              <a:off x="199434" y="747584"/>
              <a:ext cx="10815460" cy="5677930"/>
            </a:xfrm>
            <a:prstGeom prst="rect">
              <a:avLst/>
            </a:prstGeom>
          </p:spPr>
        </p:pic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943F7A7E-3BDF-E32D-7E2F-1056FB9E0D3B}"/>
                </a:ext>
              </a:extLst>
            </p:cNvPr>
            <p:cNvSpPr txBox="1"/>
            <p:nvPr/>
          </p:nvSpPr>
          <p:spPr>
            <a:xfrm>
              <a:off x="10544894" y="864973"/>
              <a:ext cx="5309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APC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F9563332-C0EB-9DFC-45B4-A0C05BD292D4}"/>
                </a:ext>
              </a:extLst>
            </p:cNvPr>
            <p:cNvSpPr txBox="1"/>
            <p:nvPr/>
          </p:nvSpPr>
          <p:spPr>
            <a:xfrm>
              <a:off x="8930278" y="1156945"/>
              <a:ext cx="17745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Libération foie droit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7B2F9100-5248-5563-1958-DE7B2EC63783}"/>
                </a:ext>
              </a:extLst>
            </p:cNvPr>
            <p:cNvSpPr txBox="1"/>
            <p:nvPr/>
          </p:nvSpPr>
          <p:spPr>
            <a:xfrm>
              <a:off x="8864192" y="1481357"/>
              <a:ext cx="5325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Tout</a:t>
              </a:r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105A2109-BD34-5903-A1D8-0FEE4E1CB5F5}"/>
                </a:ext>
              </a:extLst>
            </p:cNvPr>
            <p:cNvSpPr txBox="1"/>
            <p:nvPr/>
          </p:nvSpPr>
          <p:spPr>
            <a:xfrm>
              <a:off x="8745234" y="1784793"/>
              <a:ext cx="23489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Paroi (incision / fermeture)</a:t>
              </a: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42053BA1-8767-1AD8-067A-515DF9F32641}"/>
                </a:ext>
              </a:extLst>
            </p:cNvPr>
            <p:cNvSpPr txBox="1"/>
            <p:nvPr/>
          </p:nvSpPr>
          <p:spPr>
            <a:xfrm>
              <a:off x="7306457" y="2104843"/>
              <a:ext cx="23489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Paroi (incision / fermeture)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36C240AF-76C7-35E6-FDC6-6BD0EC2EA148}"/>
                </a:ext>
              </a:extLst>
            </p:cNvPr>
            <p:cNvSpPr txBox="1"/>
            <p:nvPr/>
          </p:nvSpPr>
          <p:spPr>
            <a:xfrm>
              <a:off x="5253028" y="2400179"/>
              <a:ext cx="5325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Tout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8F30BFE7-FD3E-FC7D-91B2-7E5533C14B08}"/>
                </a:ext>
              </a:extLst>
            </p:cNvPr>
            <p:cNvSpPr txBox="1"/>
            <p:nvPr/>
          </p:nvSpPr>
          <p:spPr>
            <a:xfrm>
              <a:off x="5265385" y="2728867"/>
              <a:ext cx="23489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Paroi (incision / fermeture)</a:t>
              </a: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236CB06D-A840-53AA-18F4-E6E205BEF2B6}"/>
                </a:ext>
              </a:extLst>
            </p:cNvPr>
            <p:cNvSpPr txBox="1"/>
            <p:nvPr/>
          </p:nvSpPr>
          <p:spPr>
            <a:xfrm>
              <a:off x="5265385" y="3012465"/>
              <a:ext cx="23489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Paroi (incision / fermeture)</a:t>
              </a:r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F4286C7B-62A3-82FA-2772-7F630595ED10}"/>
                </a:ext>
              </a:extLst>
            </p:cNvPr>
            <p:cNvSpPr txBox="1"/>
            <p:nvPr/>
          </p:nvSpPr>
          <p:spPr>
            <a:xfrm>
              <a:off x="4244849" y="3309550"/>
              <a:ext cx="10615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Dissection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767BB74E-4F25-3E63-A4D8-BCAD1A9768B5}"/>
                </a:ext>
              </a:extLst>
            </p:cNvPr>
            <p:cNvSpPr txBox="1"/>
            <p:nvPr/>
          </p:nvSpPr>
          <p:spPr>
            <a:xfrm>
              <a:off x="2772653" y="5172331"/>
              <a:ext cx="10615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Dissection</a:t>
              </a:r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61E710D6-E793-D1A7-7E00-9EE768A67693}"/>
                </a:ext>
              </a:extLst>
            </p:cNvPr>
            <p:cNvSpPr txBox="1"/>
            <p:nvPr/>
          </p:nvSpPr>
          <p:spPr>
            <a:xfrm>
              <a:off x="3712334" y="3614950"/>
              <a:ext cx="23489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Paroi (incision / fermeture)</a:t>
              </a:r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8B08FD1A-2F97-D63E-B94F-A5A9098EDBAF}"/>
                </a:ext>
              </a:extLst>
            </p:cNvPr>
            <p:cNvSpPr txBox="1"/>
            <p:nvPr/>
          </p:nvSpPr>
          <p:spPr>
            <a:xfrm>
              <a:off x="3242493" y="3950237"/>
              <a:ext cx="24084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Anastomose (non précisée)</a:t>
              </a: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E624787F-6F2A-F950-9B46-49905972FBAF}"/>
                </a:ext>
              </a:extLst>
            </p:cNvPr>
            <p:cNvSpPr txBox="1"/>
            <p:nvPr/>
          </p:nvSpPr>
          <p:spPr>
            <a:xfrm>
              <a:off x="3211956" y="4247322"/>
              <a:ext cx="23489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Paroi (incision / fermeture)</a:t>
              </a:r>
            </a:p>
          </p:txBody>
        </p:sp>
      </p:grpSp>
      <p:sp>
        <p:nvSpPr>
          <p:cNvPr id="32" name="Titre 1">
            <a:extLst>
              <a:ext uri="{FF2B5EF4-FFF2-40B4-BE49-F238E27FC236}">
                <a16:creationId xmlns:a16="http://schemas.microsoft.com/office/drawing/2014/main" id="{79188BEA-7969-692D-538C-03553D4820BD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748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Taux de geste à Paul Brousse selon les groupes d’interventions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6A6E038A-B8BC-E06F-9698-FB1ADAC5A070}"/>
              </a:ext>
            </a:extLst>
          </p:cNvPr>
          <p:cNvSpPr txBox="1"/>
          <p:nvPr/>
        </p:nvSpPr>
        <p:spPr>
          <a:xfrm>
            <a:off x="8296102" y="4525402"/>
            <a:ext cx="2312684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GESTE MAJORITAIRE</a:t>
            </a:r>
          </a:p>
        </p:txBody>
      </p:sp>
    </p:spTree>
    <p:extLst>
      <p:ext uri="{BB962C8B-B14F-4D97-AF65-F5344CB8AC3E}">
        <p14:creationId xmlns:p14="http://schemas.microsoft.com/office/powerpoint/2010/main" val="2544898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6DDDF-F030-61FF-BAB1-BAC24233E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e 28">
            <a:extLst>
              <a:ext uri="{FF2B5EF4-FFF2-40B4-BE49-F238E27FC236}">
                <a16:creationId xmlns:a16="http://schemas.microsoft.com/office/drawing/2014/main" id="{0AC13B60-ECC4-FD44-80FB-7136A720091E}"/>
              </a:ext>
            </a:extLst>
          </p:cNvPr>
          <p:cNvGrpSpPr/>
          <p:nvPr/>
        </p:nvGrpSpPr>
        <p:grpSpPr>
          <a:xfrm>
            <a:off x="199434" y="747584"/>
            <a:ext cx="11724560" cy="6110416"/>
            <a:chOff x="199434" y="747584"/>
            <a:chExt cx="10894713" cy="5677930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FD1F49D2-4B46-6453-4CC2-8C005C05B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8128"/>
            <a:stretch>
              <a:fillRect/>
            </a:stretch>
          </p:blipFill>
          <p:spPr>
            <a:xfrm>
              <a:off x="199434" y="747584"/>
              <a:ext cx="10815460" cy="5677930"/>
            </a:xfrm>
            <a:prstGeom prst="rect">
              <a:avLst/>
            </a:prstGeom>
          </p:spPr>
        </p:pic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3B40C563-9DE8-A515-8271-32E13E01B4B0}"/>
                </a:ext>
              </a:extLst>
            </p:cNvPr>
            <p:cNvSpPr txBox="1"/>
            <p:nvPr/>
          </p:nvSpPr>
          <p:spPr>
            <a:xfrm>
              <a:off x="10544894" y="864973"/>
              <a:ext cx="5309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APC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AAECDF8A-EB55-55ED-5DC9-83E590E1B3EB}"/>
                </a:ext>
              </a:extLst>
            </p:cNvPr>
            <p:cNvSpPr txBox="1"/>
            <p:nvPr/>
          </p:nvSpPr>
          <p:spPr>
            <a:xfrm>
              <a:off x="8930278" y="1156945"/>
              <a:ext cx="17745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Libération foie droit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23C5B222-B761-BE3E-5EFF-AFB315B5B6E1}"/>
                </a:ext>
              </a:extLst>
            </p:cNvPr>
            <p:cNvSpPr txBox="1"/>
            <p:nvPr/>
          </p:nvSpPr>
          <p:spPr>
            <a:xfrm>
              <a:off x="8864192" y="1481357"/>
              <a:ext cx="5325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Tout</a:t>
              </a:r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3E1AA146-8F06-BA4E-420B-6D2F9BCF1097}"/>
                </a:ext>
              </a:extLst>
            </p:cNvPr>
            <p:cNvSpPr txBox="1"/>
            <p:nvPr/>
          </p:nvSpPr>
          <p:spPr>
            <a:xfrm>
              <a:off x="8745234" y="1784793"/>
              <a:ext cx="23489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Paroi (incision / fermeture)</a:t>
              </a: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9F1CE8D5-0B7A-ACF3-EA72-CA5C538E611F}"/>
                </a:ext>
              </a:extLst>
            </p:cNvPr>
            <p:cNvSpPr txBox="1"/>
            <p:nvPr/>
          </p:nvSpPr>
          <p:spPr>
            <a:xfrm>
              <a:off x="7306457" y="2104843"/>
              <a:ext cx="23489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Paroi (incision / fermeture)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6E0EEB6B-0807-AD3B-87E9-7DDC24532289}"/>
                </a:ext>
              </a:extLst>
            </p:cNvPr>
            <p:cNvSpPr txBox="1"/>
            <p:nvPr/>
          </p:nvSpPr>
          <p:spPr>
            <a:xfrm>
              <a:off x="5253028" y="2400179"/>
              <a:ext cx="5325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Tout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85BF6867-B224-7021-B1AE-477C11A1CA80}"/>
                </a:ext>
              </a:extLst>
            </p:cNvPr>
            <p:cNvSpPr txBox="1"/>
            <p:nvPr/>
          </p:nvSpPr>
          <p:spPr>
            <a:xfrm>
              <a:off x="5265385" y="2728867"/>
              <a:ext cx="23489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Paroi (incision / fermeture)</a:t>
              </a: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AD7087BD-DF37-46B5-E628-AEF54F1C5CB7}"/>
                </a:ext>
              </a:extLst>
            </p:cNvPr>
            <p:cNvSpPr txBox="1"/>
            <p:nvPr/>
          </p:nvSpPr>
          <p:spPr>
            <a:xfrm>
              <a:off x="5265385" y="3012465"/>
              <a:ext cx="23489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Paroi (incision / fermeture)</a:t>
              </a:r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58CDDBFB-E75B-0C19-CA64-5EFF0C91E294}"/>
                </a:ext>
              </a:extLst>
            </p:cNvPr>
            <p:cNvSpPr txBox="1"/>
            <p:nvPr/>
          </p:nvSpPr>
          <p:spPr>
            <a:xfrm>
              <a:off x="4244849" y="3309550"/>
              <a:ext cx="10615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Dissection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86692C9A-35B2-F978-1C0D-1F1855BD405D}"/>
                </a:ext>
              </a:extLst>
            </p:cNvPr>
            <p:cNvSpPr txBox="1"/>
            <p:nvPr/>
          </p:nvSpPr>
          <p:spPr>
            <a:xfrm>
              <a:off x="2772653" y="5172331"/>
              <a:ext cx="10615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Dissection</a:t>
              </a:r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14442A1F-7813-BCB3-35EA-5CD0F7248826}"/>
                </a:ext>
              </a:extLst>
            </p:cNvPr>
            <p:cNvSpPr txBox="1"/>
            <p:nvPr/>
          </p:nvSpPr>
          <p:spPr>
            <a:xfrm>
              <a:off x="3712334" y="3614950"/>
              <a:ext cx="23489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Paroi (incision / fermeture)</a:t>
              </a:r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B1087E96-35F9-0484-10F4-D2056575A128}"/>
                </a:ext>
              </a:extLst>
            </p:cNvPr>
            <p:cNvSpPr txBox="1"/>
            <p:nvPr/>
          </p:nvSpPr>
          <p:spPr>
            <a:xfrm>
              <a:off x="3242493" y="3950237"/>
              <a:ext cx="24084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Anastomose (non précisée)</a:t>
              </a: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460E0E66-610C-8CF0-74E4-A7ADA0439F78}"/>
                </a:ext>
              </a:extLst>
            </p:cNvPr>
            <p:cNvSpPr txBox="1"/>
            <p:nvPr/>
          </p:nvSpPr>
          <p:spPr>
            <a:xfrm>
              <a:off x="3211956" y="4247322"/>
              <a:ext cx="23489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Paroi (incision / fermeture)</a:t>
              </a:r>
            </a:p>
          </p:txBody>
        </p:sp>
      </p:grpSp>
      <p:sp>
        <p:nvSpPr>
          <p:cNvPr id="32" name="Titre 1">
            <a:extLst>
              <a:ext uri="{FF2B5EF4-FFF2-40B4-BE49-F238E27FC236}">
                <a16:creationId xmlns:a16="http://schemas.microsoft.com/office/drawing/2014/main" id="{22FC06C8-0BE5-BC3C-9CA6-E2CAA93B7A7A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748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Taux de geste à Paul Brousse selon les groupes d’interventions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C45CA154-2FC7-F379-FB4B-6510F36DB203}"/>
              </a:ext>
            </a:extLst>
          </p:cNvPr>
          <p:cNvSpPr txBox="1"/>
          <p:nvPr/>
        </p:nvSpPr>
        <p:spPr>
          <a:xfrm>
            <a:off x="8296102" y="4525402"/>
            <a:ext cx="2312684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GESTE MAJORITAIRE</a:t>
            </a:r>
          </a:p>
        </p:txBody>
      </p:sp>
    </p:spTree>
    <p:extLst>
      <p:ext uri="{BB962C8B-B14F-4D97-AF65-F5344CB8AC3E}">
        <p14:creationId xmlns:p14="http://schemas.microsoft.com/office/powerpoint/2010/main" val="211832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E8EA1-1A87-E2F6-362B-E8FF965F7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re 1">
            <a:extLst>
              <a:ext uri="{FF2B5EF4-FFF2-40B4-BE49-F238E27FC236}">
                <a16:creationId xmlns:a16="http://schemas.microsoft.com/office/drawing/2014/main" id="{1C6BAC91-B105-7105-71DB-C1C5A6DE1AA7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748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Taux de geste TH / TP / PMO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B144887-6001-8EA4-77BB-0062E2F60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00545"/>
            <a:ext cx="9963150" cy="568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206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428F8-CA69-25FF-5D3E-1E15DCED8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re 1">
            <a:extLst>
              <a:ext uri="{FF2B5EF4-FFF2-40B4-BE49-F238E27FC236}">
                <a16:creationId xmlns:a16="http://schemas.microsoft.com/office/drawing/2014/main" id="{12245113-01BF-56BF-3C83-29B164DB305C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748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Quels gestes sur les PMO ?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2DBE64B-973B-FD87-4C91-E6D2106671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43"/>
          <a:stretch>
            <a:fillRect/>
          </a:stretch>
        </p:blipFill>
        <p:spPr>
          <a:xfrm>
            <a:off x="600248" y="957694"/>
            <a:ext cx="11378403" cy="555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795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8F0DC-BC2A-30CB-88C6-5F32E6929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re 1">
            <a:extLst>
              <a:ext uri="{FF2B5EF4-FFF2-40B4-BE49-F238E27FC236}">
                <a16:creationId xmlns:a16="http://schemas.microsoft.com/office/drawing/2014/main" id="{1DC87675-F9E9-FDA3-861F-913B056E4270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748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Quels gestes sur les TH ?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8DF50B4-9C07-09F5-9771-C4B37B6A8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49" y="1155756"/>
            <a:ext cx="10287001" cy="454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42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366FA-63F7-163F-4BD7-F50AB065C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re 1">
            <a:extLst>
              <a:ext uri="{FF2B5EF4-FFF2-40B4-BE49-F238E27FC236}">
                <a16:creationId xmlns:a16="http://schemas.microsoft.com/office/drawing/2014/main" id="{E926FD13-A30D-EDBB-51BE-FE5838717329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748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Pédagogie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941470B-5131-42BB-D772-D2C592AD0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907240"/>
            <a:ext cx="9496314" cy="541736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6FF4470-9335-698C-15D3-10DE0CD6204C}"/>
              </a:ext>
            </a:extLst>
          </p:cNvPr>
          <p:cNvSpPr txBox="1"/>
          <p:nvPr/>
        </p:nvSpPr>
        <p:spPr>
          <a:xfrm>
            <a:off x="8550207" y="1866900"/>
            <a:ext cx="26731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55% bonne à très bonne</a:t>
            </a:r>
            <a:br>
              <a:rPr lang="fr-FR" b="1" dirty="0"/>
            </a:br>
            <a:br>
              <a:rPr lang="fr-FR" b="1" dirty="0"/>
            </a:br>
            <a:r>
              <a:rPr lang="fr-FR" b="1" dirty="0"/>
              <a:t>8% mauvaise</a:t>
            </a:r>
          </a:p>
        </p:txBody>
      </p:sp>
    </p:spTree>
    <p:extLst>
      <p:ext uri="{BB962C8B-B14F-4D97-AF65-F5344CB8AC3E}">
        <p14:creationId xmlns:p14="http://schemas.microsoft.com/office/powerpoint/2010/main" val="3598881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A9256-3883-FEBB-B4A7-6DC3A76CE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re 1">
            <a:extLst>
              <a:ext uri="{FF2B5EF4-FFF2-40B4-BE49-F238E27FC236}">
                <a16:creationId xmlns:a16="http://schemas.microsoft.com/office/drawing/2014/main" id="{77BD6C80-7A31-14E9-20A4-056C769F83DE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748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Expérience ressentie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F26EC4B-588A-AA27-C75B-2A89A14C5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92197"/>
            <a:ext cx="8804343" cy="532130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62AAFD8-FED1-678A-6FF4-368A68AFE84E}"/>
              </a:ext>
            </a:extLst>
          </p:cNvPr>
          <p:cNvSpPr txBox="1"/>
          <p:nvPr/>
        </p:nvSpPr>
        <p:spPr>
          <a:xfrm>
            <a:off x="9410700" y="3059668"/>
            <a:ext cx="2381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45% on recommence</a:t>
            </a:r>
          </a:p>
        </p:txBody>
      </p:sp>
    </p:spTree>
    <p:extLst>
      <p:ext uri="{BB962C8B-B14F-4D97-AF65-F5344CB8AC3E}">
        <p14:creationId xmlns:p14="http://schemas.microsoft.com/office/powerpoint/2010/main" val="29670967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297</Words>
  <Application>Microsoft Macintosh PowerPoint</Application>
  <PresentationFormat>Grand écran</PresentationFormat>
  <Paragraphs>58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Thème Office</vt:lpstr>
      <vt:lpstr>RÉSULTATS PBR</vt:lpstr>
      <vt:lpstr>Méthodes</vt:lpstr>
      <vt:lpstr>Répartition des interventions (Semestre Hiver 24 – 25) (n = 355)</vt:lpstr>
      <vt:lpstr>Place de l’interne à Paul Brousse</vt:lpstr>
      <vt:lpstr>Taux de geste à Paul Brousse</vt:lpstr>
      <vt:lpstr>Taux de geste à Paul Brousse</vt:lpstr>
      <vt:lpstr>Taux de geste à Paul Brousse selon les groupes d’interventions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Husson</dc:creator>
  <cp:lastModifiedBy>Thomas Husson</cp:lastModifiedBy>
  <cp:revision>1</cp:revision>
  <dcterms:created xsi:type="dcterms:W3CDTF">2025-09-07T21:03:36Z</dcterms:created>
  <dcterms:modified xsi:type="dcterms:W3CDTF">2025-09-07T22:10:40Z</dcterms:modified>
</cp:coreProperties>
</file>